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headline numbers. Pause after the ask so leadership can react.</a:t>
            </a:r>
          </a:p>
          <a:p>
            <a:r>
              <a:t>Keep this slide under 90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280160" cy="63500"/>
          </a:xfrm>
          <a:prstGeom prst="rect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Segoe UI Semibold"/>
              </a:rPr>
              <a:t>Project Aurora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3F1EF"/>
                </a:solidFill>
                <a:latin typeface="Segoe UI"/>
              </a:rPr>
              <a:t>Scaling the platform to 10M daily active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B6B7C"/>
                </a:solidFill>
                <a:latin typeface="Segoe UI"/>
              </a:rPr>
              <a:t>Vikrant Singh, Engineering Leadership · Q1 FY26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spc="200">
                <a:solidFill>
                  <a:srgbClr val="2F9E8F"/>
                </a:solidFill>
                <a:latin typeface="Segoe UI Semibold"/>
              </a:rPr>
              <a:t>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017520"/>
            <a:ext cx="1005840" cy="50800"/>
          </a:xfrm>
          <a:prstGeom prst="rect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 Semibold"/>
              </a:rPr>
              <a:t>Where we 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742"/>
                </a:solidFill>
                <a:latin typeface="Segoe UI Semibold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822960" cy="38100"/>
          </a:xfrm>
          <a:prstGeom prst="rect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2F9E8F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Revenue run-rate up </a:t>
            </a:r>
            <a:r>
              <a:rPr sz="1800" b="1" i="0">
                <a:solidFill>
                  <a:srgbClr val="1F2933"/>
                </a:solidFill>
                <a:latin typeface="Segoe UI"/>
              </a:rPr>
              <a:t>42% YoY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, driven by enterprise adoption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2F9E8F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Platform reliability reached </a:t>
            </a:r>
            <a:r>
              <a:rPr sz="1800" b="1" i="0">
                <a:solidFill>
                  <a:srgbClr val="1F2933"/>
                </a:solidFill>
                <a:latin typeface="Segoe UI"/>
              </a:rPr>
              <a:t>99.95%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 availability this quarter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2F9E8F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Two strategic risks need a decision today: </a:t>
            </a:r>
            <a:r>
              <a:rPr sz="1800" b="0" i="1">
                <a:solidFill>
                  <a:srgbClr val="1F2933"/>
                </a:solidFill>
                <a:latin typeface="Segoe UI"/>
              </a:rPr>
              <a:t>capacity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 and </a:t>
            </a:r>
            <a:r>
              <a:rPr sz="1800" b="0" i="1">
                <a:solidFill>
                  <a:srgbClr val="1F2933"/>
                </a:solidFill>
                <a:latin typeface="Segoe UI"/>
              </a:rPr>
              <a:t>talent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2F9E8F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Ask: approve </a:t>
            </a:r>
            <a:r>
              <a:rPr sz="1800" b="1" i="0">
                <a:solidFill>
                  <a:srgbClr val="1F2933"/>
                </a:solidFill>
                <a:latin typeface="Segoe UI"/>
              </a:rPr>
              <a:t>$4.2M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 investment to unblock the FY26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B7C"/>
                </a:solidFill>
                <a:latin typeface="Segoe UI"/>
              </a:rPr>
              <a:t>Aurora · Confidential - Leadership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B6B7C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742"/>
                </a:solidFill>
                <a:latin typeface="Segoe UI Semibold"/>
              </a:rPr>
              <a:t>The numbers that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822960" cy="38100"/>
          </a:xfrm>
          <a:prstGeom prst="rect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74519"/>
          <a:ext cx="1054577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anchor="ctr" marT="50800" marB="50800">
                    <a:solidFill>
                      <a:srgbClr val="0F27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FY25</a:t>
                      </a:r>
                    </a:p>
                  </a:txBody>
                  <a:tcPr anchor="ctr" marT="50800" marB="50800">
                    <a:solidFill>
                      <a:srgbClr val="0F27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FY26 Target</a:t>
                      </a:r>
                    </a:p>
                  </a:txBody>
                  <a:tcPr anchor="ctr" marT="50800" marB="50800">
                    <a:solidFill>
                      <a:srgbClr val="0F27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anchor="ctr" marT="50800" marB="50800">
                    <a:solidFill>
                      <a:srgbClr val="0F274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Segoe UI"/>
                        </a:rPr>
                        <a:t>Daily active users</a:t>
                      </a:r>
                    </a:p>
                  </a:txBody>
                  <a:tcPr anchor="ctr" marT="50800" marB="508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Segoe UI"/>
                        </a:rPr>
                        <a:t>3.1M</a:t>
                      </a:r>
                    </a:p>
                  </a:txBody>
                  <a:tcPr anchor="ctr" marT="50800" marB="508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Segoe UI"/>
                        </a:rPr>
                        <a:t>10M</a:t>
                      </a:r>
                    </a:p>
                  </a:txBody>
                  <a:tcPr anchor="ctr" marT="50800" marB="508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Segoe UI"/>
                        </a:rPr>
                        <a:t>On track</a:t>
                      </a:r>
                    </a:p>
                  </a:txBody>
                  <a:tcPr anchor="ctr" marT="50800" marB="50800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Segoe UI"/>
                        </a:rPr>
                        <a:t>p95 latency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Segoe UI"/>
                        </a:rPr>
                        <a:t>280ms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Segoe UI"/>
                        </a:rPr>
                        <a:t>150ms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Segoe UI"/>
                        </a:rPr>
                        <a:t>At risk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Segoe UI"/>
                        </a:rPr>
                        <a:t>Gross margin</a:t>
                      </a:r>
                    </a:p>
                  </a:txBody>
                  <a:tcPr anchor="ctr" marT="50800" marB="508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Segoe UI"/>
                        </a:rPr>
                        <a:t>61%</a:t>
                      </a:r>
                    </a:p>
                  </a:txBody>
                  <a:tcPr anchor="ctr" marT="50800" marB="508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Segoe UI"/>
                        </a:rPr>
                        <a:t>68%</a:t>
                      </a:r>
                    </a:p>
                  </a:txBody>
                  <a:tcPr anchor="ctr" marT="50800" marB="508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Segoe UI"/>
                        </a:rPr>
                        <a:t>On track</a:t>
                      </a:r>
                    </a:p>
                  </a:txBody>
                  <a:tcPr anchor="ctr" marT="50800" marB="50800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Segoe UI"/>
                        </a:rPr>
                        <a:t>NPS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Segoe UI"/>
                        </a:rPr>
                        <a:t>42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Segoe UI"/>
                        </a:rPr>
                        <a:t>55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Segoe UI"/>
                        </a:rPr>
                        <a:t>Ahead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B7C"/>
                </a:solidFill>
                <a:latin typeface="Segoe UI"/>
              </a:rPr>
              <a:t>Aurora · Confidential - Leadership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B6B7C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742"/>
                </a:solidFill>
                <a:latin typeface="Segoe UI Semibold"/>
              </a:rPr>
              <a:t>What's driving growth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822960" cy="38100"/>
          </a:xfrm>
          <a:prstGeom prst="rect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5044287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2F9E8F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Enterprise self-serve onboarding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2F9E8F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Usage-based pricing rollout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2F9E8F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14 new integrations shipped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2F9E8F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Partner-led motion in EMEA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920240"/>
            <a:ext cx="5044287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2F9E8F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Mobile DAU up </a:t>
            </a:r>
            <a:r>
              <a:rPr sz="1800" b="1" i="0">
                <a:solidFill>
                  <a:srgbClr val="1F2933"/>
                </a:solidFill>
                <a:latin typeface="Segoe UI"/>
              </a:rPr>
              <a:t>3.4x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2F9E8F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Activation rate </a:t>
            </a:r>
            <a:r>
              <a:rPr sz="1800" b="1" i="0">
                <a:solidFill>
                  <a:srgbClr val="1F2933"/>
                </a:solidFill>
                <a:latin typeface="Segoe UI"/>
              </a:rPr>
              <a:t>31% → 47%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2F9E8F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Churn down to </a:t>
            </a:r>
            <a:r>
              <a:rPr sz="1800" b="1" i="0">
                <a:solidFill>
                  <a:srgbClr val="1F2933"/>
                </a:solidFill>
                <a:latin typeface="Segoe UI"/>
              </a:rPr>
              <a:t>1.8%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 monthly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2F9E8F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Expansion revenue now </a:t>
            </a:r>
            <a:r>
              <a:rPr sz="1800" b="1" i="0">
                <a:solidFill>
                  <a:srgbClr val="1F2933"/>
                </a:solidFill>
                <a:latin typeface="Segoe UI"/>
              </a:rPr>
              <a:t>38%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 of net-new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B7C"/>
                </a:solidFill>
                <a:latin typeface="Segoe UI"/>
              </a:rPr>
              <a:t>Aurora · Confidential - Leadership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B6B7C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spc="200">
                <a:solidFill>
                  <a:srgbClr val="2F9E8F"/>
                </a:solidFill>
                <a:latin typeface="Segoe UI Semibold"/>
              </a:rPr>
              <a:t>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017520"/>
            <a:ext cx="1005840" cy="50800"/>
          </a:xfrm>
          <a:prstGeom prst="rect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 Semibold"/>
              </a:rPr>
              <a:t>What we need to decide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742"/>
                </a:solidFill>
                <a:latin typeface="Segoe UI Semibold"/>
              </a:rPr>
              <a:t>Strategic bet: invest in capacity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822960" cy="38100"/>
          </a:xfrm>
          <a:prstGeom prst="rect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2F9E8F"/>
                </a:solidFill>
                <a:latin typeface="Segoe UI"/>
              </a:rPr>
              <a:t>▪  </a:t>
            </a:r>
            <a:r>
              <a:rPr sz="1800" b="1" i="0">
                <a:solidFill>
                  <a:srgbClr val="1F2933"/>
                </a:solidFill>
                <a:latin typeface="Segoe UI"/>
              </a:rPr>
              <a:t>Option A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 - Incremental sharding. Lower risk, caps out at ~7M DAU.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2F9E8F"/>
                </a:solidFill>
                <a:latin typeface="Segoe UI"/>
              </a:rPr>
              <a:t>▪  </a:t>
            </a:r>
            <a:r>
              <a:rPr sz="1800" b="1" i="0">
                <a:solidFill>
                  <a:srgbClr val="1F2933"/>
                </a:solidFill>
                <a:latin typeface="Segoe UI"/>
              </a:rPr>
              <a:t>Option B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 - Re-platform to a cell-based architecture. Higher upfront cost, scales past 25M DAU.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2F9E8F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Recommendation: </a:t>
            </a:r>
            <a:r>
              <a:rPr sz="1800" b="1" i="0">
                <a:solidFill>
                  <a:srgbClr val="1F2933"/>
                </a:solidFill>
                <a:latin typeface="Segoe UI"/>
              </a:rPr>
              <a:t>Option B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, phased over three quarters.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B7C"/>
                </a:solidFill>
                <a:latin typeface="Segoe UI"/>
              </a:rPr>
              <a:t>Aurora · Confidential - Leadership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B6B7C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0" b="1" i="0">
                <a:solidFill>
                  <a:srgbClr val="2F9E8F"/>
                </a:solidFill>
                <a:latin typeface="Segoe UI Semibold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1">
                <a:solidFill>
                  <a:srgbClr val="0F2742"/>
                </a:solidFill>
                <a:latin typeface="Segoe UI"/>
              </a:rPr>
              <a:t>The best architecture is the one that lets a small team move fast for years without rewrites.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B6B7C"/>
                </a:solidFill>
                <a:latin typeface="Segoe UI Semibold"/>
              </a:rPr>
              <a:t>- Aurora Engineering Tenets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B7C"/>
                </a:solidFill>
                <a:latin typeface="Segoe UI"/>
              </a:rPr>
              <a:t>Aurora · Confidential - Leadership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B6B7C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742"/>
                </a:solidFill>
                <a:latin typeface="Segoe UI Semibold"/>
              </a:rPr>
              <a:t>Architecture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822960" cy="38100"/>
          </a:xfrm>
          <a:prstGeom prst="rect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967" y="1828800"/>
            <a:ext cx="747776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B7C"/>
                </a:solidFill>
                <a:latin typeface="Segoe UI"/>
              </a:rPr>
              <a:t>Aurora · Confidential - Leadership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B6B7C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742"/>
                </a:solidFill>
                <a:latin typeface="Segoe UI Semibold"/>
              </a:rPr>
              <a:t>How the rollout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822960" cy="38100"/>
          </a:xfrm>
          <a:prstGeom prst="rect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2F9E8F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Each cell is fully isolated: its own data, queues, and capacity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2F9E8F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A bad deploy can only ever affect </a:t>
            </a:r>
            <a:r>
              <a:rPr sz="1800" b="1" i="0">
                <a:solidFill>
                  <a:srgbClr val="1F2933"/>
                </a:solidFill>
                <a:latin typeface="Segoe UI"/>
              </a:rPr>
              <a:t>one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 cell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2F9E8F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Cells are added without downtime - capacity becomes a config change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840480"/>
            <a:ext cx="10545775" cy="242316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28600" bIns="228600"/>
          <a:lstStyle/>
          <a:p>
            <a:pPr algn="l">
              <a:lnSpc>
                <a:spcPct val="105000"/>
              </a:lnSpc>
            </a:pPr>
            <a:r>
              <a:rPr sz="1400">
                <a:solidFill>
                  <a:srgbClr val="E6EDF5"/>
                </a:solidFill>
                <a:latin typeface="Consolas"/>
              </a:rPr>
              <a:t>def route_request(user_id: str) -&gt; Cell:</a:t>
            </a: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E6EDF5"/>
                </a:solidFill>
                <a:latin typeface="Consolas"/>
              </a:rPr>
              <a:t>    """Deterministically map a user to a cell for blast-radius isolation."""</a:t>
            </a: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E6EDF5"/>
                </a:solidFill>
                <a:latin typeface="Consolas"/>
              </a:rPr>
              <a:t>    cell_id = stable_hash(user_id) % len(active_cells())</a:t>
            </a: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E6EDF5"/>
                </a:solidFill>
                <a:latin typeface="Consolas"/>
              </a:rPr>
              <a:t>    return active_cells()[cell_id]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B7C"/>
                </a:solidFill>
                <a:latin typeface="Segoe UI"/>
              </a:rPr>
              <a:t>Aurora · Confidential - Leadership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B6B7C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742"/>
                </a:solidFill>
                <a:latin typeface="Segoe UI Semibold"/>
              </a:rPr>
              <a:t>The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822960" cy="38100"/>
          </a:xfrm>
          <a:prstGeom prst="rect">
            <a:avLst/>
          </a:prstGeom>
          <a:solidFill>
            <a:srgbClr val="2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2F9E8F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Approve </a:t>
            </a:r>
            <a:r>
              <a:rPr sz="1800" b="1" i="0">
                <a:solidFill>
                  <a:srgbClr val="1F2933"/>
                </a:solidFill>
                <a:latin typeface="Segoe UI"/>
              </a:rPr>
              <a:t>$4.2M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 for the FY26 platform investment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2F9E8F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Backfill </a:t>
            </a:r>
            <a:r>
              <a:rPr sz="1800" b="1" i="0">
                <a:solidFill>
                  <a:srgbClr val="1F2933"/>
                </a:solidFill>
                <a:latin typeface="Segoe UI"/>
              </a:rPr>
              <a:t>6 senior engineers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 across two squads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2F9E8F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Green-light </a:t>
            </a:r>
            <a:r>
              <a:rPr sz="1800" b="1" i="0">
                <a:solidFill>
                  <a:srgbClr val="1F2933"/>
                </a:solidFill>
                <a:latin typeface="Segoe UI"/>
              </a:rPr>
              <a:t>Option B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 with a phased, quarter-by-quarter rollout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2F9E8F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Decision needed by </a:t>
            </a:r>
            <a:r>
              <a:rPr sz="1800" b="1" i="0">
                <a:solidFill>
                  <a:srgbClr val="1F2933"/>
                </a:solidFill>
                <a:latin typeface="Segoe UI"/>
              </a:rPr>
              <a:t>end of week</a:t>
            </a:r>
            <a:r>
              <a:rPr sz="1800" b="0" i="0">
                <a:solidFill>
                  <a:srgbClr val="1F2933"/>
                </a:solidFill>
                <a:latin typeface="Segoe UI"/>
              </a:rPr>
              <a:t> to hold the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B7C"/>
                </a:solidFill>
                <a:latin typeface="Segoe UI"/>
              </a:rPr>
              <a:t>Aurora · Confidential - Leadership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B6B7C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 Semibold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3F1EF"/>
                </a:solidFill>
                <a:latin typeface="Segoe UI"/>
              </a:rPr>
              <a:t>Questions, challenges, and decisions - let's discuss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