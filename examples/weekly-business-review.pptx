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0" cy="635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B1220"/>
                </a:solidFill>
                <a:latin typeface="Segoe UI Semibold"/>
              </a:rPr>
              <a:t>Weekly Business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B4A"/>
                </a:solidFill>
                <a:latin typeface="Segoe UI"/>
              </a:rPr>
              <a:t>Platform health, wins, and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FB0C3"/>
                </a:solidFill>
                <a:latin typeface="Segoe UI"/>
              </a:rPr>
              <a:t>Platform Team · Week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spc="200">
                <a:solidFill>
                  <a:srgbClr val="6EA8FE"/>
                </a:solidFill>
                <a:latin typeface="Segoe UI Semibold"/>
              </a:rPr>
              <a:t>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17520"/>
            <a:ext cx="1005840" cy="508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B1220"/>
                </a:solidFill>
                <a:latin typeface="Segoe UI Semibold"/>
              </a:rPr>
              <a:t>Highlights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 Semibold"/>
              </a:rPr>
              <a:t>This week in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822960" cy="381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6EA8FE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E6EDF5"/>
                </a:solidFill>
                <a:latin typeface="Segoe UI"/>
              </a:rPr>
              <a:t>Latency win came from the new caching layer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6EA8FE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E6EDF5"/>
                </a:solidFill>
                <a:latin typeface="Segoe UI"/>
              </a:rPr>
              <a:t>Closed three long-standing Sev2 incidents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4023360"/>
          <a:ext cx="1054577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1220"/>
                          </a:solidFill>
                          <a:latin typeface="Segoe UI"/>
                        </a:rPr>
                        <a:t>KPI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1220"/>
                          </a:solidFill>
                          <a:latin typeface="Segoe UI"/>
                        </a:rPr>
                        <a:t>Last week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1220"/>
                          </a:solidFill>
                          <a:latin typeface="Segoe UI"/>
                        </a:rPr>
                        <a:t>This week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1220"/>
                          </a:solidFill>
                          <a:latin typeface="Segoe UI"/>
                        </a:rPr>
                        <a:t>Δ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DF5"/>
                          </a:solidFill>
                          <a:latin typeface="Segoe UI"/>
                        </a:rPr>
                        <a:t>Uptime</a:t>
                      </a:r>
                    </a:p>
                  </a:txBody>
                  <a:tcPr anchor="ctr" marT="50800" marB="50800">
                    <a:solidFill>
                      <a:srgbClr val="1620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DF5"/>
                          </a:solidFill>
                          <a:latin typeface="Segoe UI"/>
                        </a:rPr>
                        <a:t>99.91%</a:t>
                      </a:r>
                    </a:p>
                  </a:txBody>
                  <a:tcPr anchor="ctr" marT="50800" marB="50800">
                    <a:solidFill>
                      <a:srgbClr val="1620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DF5"/>
                          </a:solidFill>
                          <a:latin typeface="Segoe UI"/>
                        </a:rPr>
                        <a:t>99.97%</a:t>
                      </a:r>
                    </a:p>
                  </a:txBody>
                  <a:tcPr anchor="ctr" marT="50800" marB="50800">
                    <a:solidFill>
                      <a:srgbClr val="1620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DF5"/>
                          </a:solidFill>
                          <a:latin typeface="Segoe UI"/>
                        </a:rPr>
                        <a:t>+0.06</a:t>
                      </a:r>
                    </a:p>
                  </a:txBody>
                  <a:tcPr anchor="ctr" marT="50800" marB="50800">
                    <a:solidFill>
                      <a:srgbClr val="1620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DF5"/>
                          </a:solidFill>
                          <a:latin typeface="Segoe UI"/>
                        </a:rPr>
                        <a:t>p95 latency</a:t>
                      </a:r>
                    </a:p>
                  </a:txBody>
                  <a:tcPr anchor="ctr" marT="50800" marB="5080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DF5"/>
                          </a:solidFill>
                          <a:latin typeface="Segoe UI"/>
                        </a:rPr>
                        <a:t>210ms</a:t>
                      </a:r>
                    </a:p>
                  </a:txBody>
                  <a:tcPr anchor="ctr" marT="50800" marB="5080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DF5"/>
                          </a:solidFill>
                          <a:latin typeface="Segoe UI"/>
                        </a:rPr>
                        <a:t>175ms</a:t>
                      </a:r>
                    </a:p>
                  </a:txBody>
                  <a:tcPr anchor="ctr" marT="50800" marB="50800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DF5"/>
                          </a:solidFill>
                          <a:latin typeface="Segoe UI"/>
                        </a:rPr>
                        <a:t>-35ms</a:t>
                      </a:r>
                    </a:p>
                  </a:txBody>
                  <a:tcPr anchor="ctr" marT="50800" marB="50800"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DF5"/>
                          </a:solidFill>
                          <a:latin typeface="Segoe UI"/>
                        </a:rPr>
                        <a:t>Open Sev2s</a:t>
                      </a:r>
                    </a:p>
                  </a:txBody>
                  <a:tcPr anchor="ctr" marT="50800" marB="50800">
                    <a:solidFill>
                      <a:srgbClr val="1620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DF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T="50800" marB="50800">
                    <a:solidFill>
                      <a:srgbClr val="1620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DF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T="50800" marB="50800">
                    <a:solidFill>
                      <a:srgbClr val="1620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DF5"/>
                          </a:solidFill>
                          <a:latin typeface="Segoe UI"/>
                        </a:rPr>
                        <a:t>-3</a:t>
                      </a:r>
                    </a:p>
                  </a:txBody>
                  <a:tcPr anchor="ctr" marT="50800" marB="50800">
                    <a:solidFill>
                      <a:srgbClr val="16203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C3"/>
                </a:solidFill>
                <a:latin typeface="Segoe UI"/>
              </a:rPr>
              <a:t>WBR · Platform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FB0C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 Semibold"/>
              </a:rPr>
              <a:t>Risks &amp; 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822960" cy="381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6EA8F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E6EDF5"/>
                </a:solidFill>
                <a:latin typeface="Segoe UI"/>
              </a:rPr>
              <a:t>Risk:</a:t>
            </a:r>
            <a:r>
              <a:rPr sz="1800" b="0" i="0">
                <a:solidFill>
                  <a:srgbClr val="E6EDF5"/>
                </a:solidFill>
                <a:latin typeface="Segoe UI"/>
              </a:rPr>
              <a:t> queue backlog grows during EMEA peak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6EA8F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E6EDF5"/>
                </a:solidFill>
                <a:latin typeface="Segoe UI"/>
              </a:rPr>
              <a:t>Mitigation:</a:t>
            </a:r>
            <a:r>
              <a:rPr sz="1800" b="0" i="0">
                <a:solidFill>
                  <a:srgbClr val="E6EDF5"/>
                </a:solidFill>
                <a:latin typeface="Segoe UI"/>
              </a:rPr>
              <a:t> autoscaling policy ships Monday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800" b="1">
                <a:solidFill>
                  <a:srgbClr val="6EA8FE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E6EDF5"/>
                </a:solidFill>
                <a:latin typeface="Segoe UI"/>
              </a:rPr>
              <a:t>Ask:</a:t>
            </a:r>
            <a:r>
              <a:rPr sz="1800" b="0" i="0">
                <a:solidFill>
                  <a:srgbClr val="E6EDF5"/>
                </a:solidFill>
                <a:latin typeface="Segoe UI"/>
              </a:rPr>
              <a:t> one reviewer for the data-migration 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C3"/>
                </a:solidFill>
                <a:latin typeface="Segoe UI"/>
              </a:rPr>
              <a:t>WBR · Platform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FB0C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B1220"/>
                </a:solidFill>
                <a:latin typeface="Segoe UI Semibold"/>
              </a:rP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B4A"/>
                </a:solidFill>
                <a:latin typeface="Segoe UI"/>
              </a:rPr>
              <a:t>See the dashboard for live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